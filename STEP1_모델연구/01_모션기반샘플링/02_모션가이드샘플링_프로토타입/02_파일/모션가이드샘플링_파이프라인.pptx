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6" r:id="rId17"/>
    <p:sldId id="262" r:id="rId13"/>
    <p:sldId id="263" r:id="rId14"/>
    <p:sldId id="264" r:id="rId15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7" Type="http://schemas.openxmlformats.org/officeDocument/2006/relationships/slide" Target="slides/slide7.xml"/><Relationship Id="rId18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45720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8F7F"/>
                </a:solidFill>
                <a:latin typeface="맑은 고딕"/>
              </a:rPr>
              <a:t>MOTION GUIDE SAMPLING · TACIT KNOWLEDGE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모션 가이드 샘플링 기반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암묵지 추출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6D2"/>
                </a:solidFill>
                <a:latin typeface="맑은 고딕"/>
              </a:rPr>
              <a:t>1인칭 AR 글래스 영상 → 전문가 암묵지 구간 자동 추출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6655F"/>
                </a:solidFill>
                <a:latin typeface="맑은 고딕"/>
              </a:rPr>
              <a:t>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F7F"/>
                </a:solidFill>
                <a:latin typeface="맑은 고딕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201E"/>
                </a:solidFill>
                <a:latin typeface="맑은 고딕"/>
              </a:rPr>
              <a:t>문제 정의 — 암묵지(Tacit Knowledge)란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55F"/>
                </a:solidFill>
                <a:latin typeface="맑은 고딕"/>
              </a:rPr>
              <a:t>전문가가 의식하지 못한 채 수행하는 행동 패턴. 언어로 설명하긴 어렵지만 행동에서 드러난다.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8F7F"/>
                </a:solidFill>
                <a:latin typeface="맑은 고딕"/>
              </a:rPr>
              <a:t>컴퓨터 조립 전문가의 암묵지 예시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201E"/>
                </a:solidFill>
                <a:latin typeface="맑은 고딕"/>
              </a:rPr>
              <a:t>부품 이상 감지  →  부품 재확인  →  매뉴얼 시선  →  타 부품 비교  →  원인 파악 후 손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이 시선의 순서와 패턴 자체가 전문가의 문제 진단 과정이다 — 초보자는 이 과정이 없거나 순서가 다르다.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1인칭 영상에서의 기술적 과제 — AR 글래스는 카메라 = 시선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526280"/>
          <a:ext cx="110642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/>
                <a:gridCol w="7744968"/>
              </a:tblGrid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카메라 움직임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4201E"/>
                          </a:solidFill>
                          <a:latin typeface="맑은 고딕"/>
                        </a:rPr>
                        <a:t>느리게 움직이다 멈춤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4201E"/>
                          </a:solidFill>
                          <a:latin typeface="맑은 고딕"/>
                        </a:rPr>
                        <a:t>전문가가 무언가를 의도적으로 바라봄 (GAZE_SHIFT → FIXATION)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4201E"/>
                          </a:solidFill>
                          <a:latin typeface="맑은 고딕"/>
                        </a:rPr>
                        <a:t>빠르게 흔들림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4201E"/>
                          </a:solidFill>
                          <a:latin typeface="맑은 고딕"/>
                        </a:rPr>
                        <a:t>단순 노이즈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4201E"/>
                          </a:solidFill>
                          <a:latin typeface="맑은 고딕"/>
                        </a:rPr>
                        <a:t>크게 연속 이동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4201E"/>
                          </a:solidFill>
                          <a:latin typeface="맑은 고딕"/>
                        </a:rPr>
                        <a:t>걷기 / 장소 이동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F7F"/>
                </a:solidFill>
                <a:latin typeface="맑은 고딕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201E"/>
                </a:solidFill>
                <a:latin typeface="맑은 고딕"/>
              </a:rPr>
              <a:t>전체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55F"/>
                </a:solidFill>
                <a:latin typeface="맑은 고딕"/>
              </a:rPr>
              <a:t>원본 영상 → 모션 스코어 산출 → 전략 비교 자동 선택 → 클립 추출 → 다음 단계(인식·언어·통합 분석)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371600" cy="233172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6655F"/>
                </a:solidFill>
                <a:latin typeface="맑은 고딕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3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원본 영상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7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6655F"/>
                </a:solidFill>
                <a:latin typeface="맑은 고딕"/>
              </a:rPr>
              <a:t>.mp4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268979"/>
            <a:ext cx="320040" cy="0"/>
          </a:xfrm>
          <a:prstGeom prst="line">
            <a:avLst/>
          </a:prstGeom>
          <a:ln w="22225">
            <a:solidFill>
              <a:srgbClr val="566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40280" y="2103120"/>
            <a:ext cx="2331720" cy="233172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194560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F7F"/>
                </a:solidFill>
                <a:latin typeface="맑은 고딕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32303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모션 스코어 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761487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6655F"/>
                </a:solidFill>
                <a:latin typeface="맑은 고딕"/>
              </a:rPr>
              <a:t>motion_score.py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017520"/>
            <a:ext cx="205740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score(t) = mean(|Δgray|)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1초 간격 샘플링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GaussianBlur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dead-zone &lt; 1.5 → 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3268979"/>
            <a:ext cx="320040" cy="0"/>
          </a:xfrm>
          <a:prstGeom prst="line">
            <a:avLst/>
          </a:prstGeom>
          <a:ln w="22225">
            <a:solidFill>
              <a:srgbClr val="566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892040" y="2103120"/>
            <a:ext cx="2743200" cy="233172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194560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F7F"/>
                </a:solidFill>
                <a:latin typeface="맑은 고딕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43230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전략 비교·자동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761487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6655F"/>
                </a:solidFill>
                <a:latin typeface="맑은 고딕"/>
              </a:rPr>
              <a:t>select_clip.py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17520"/>
            <a:ext cx="246888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A. Threshold+AKS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B. CDF/MGSampler ★선택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C. AKS Window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score=cov·.40+rel·.35+uni·.25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35240" y="3268979"/>
            <a:ext cx="320039" cy="0"/>
          </a:xfrm>
          <a:prstGeom prst="line">
            <a:avLst/>
          </a:prstGeom>
          <a:ln w="22225">
            <a:solidFill>
              <a:srgbClr val="566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955279" y="2103120"/>
            <a:ext cx="2148840" cy="233172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194560"/>
            <a:ext cx="1874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F7F"/>
                </a:solidFill>
                <a:latin typeface="맑은 고딕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432303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클립 추출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761487"/>
            <a:ext cx="1874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6655F"/>
                </a:solidFill>
                <a:latin typeface="맑은 고딕"/>
              </a:rPr>
              <a:t>extract_video.py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017520"/>
            <a:ext cx="187452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ffmpeg -c:v copy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재인코딩 없음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유지율 ≈75%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04119" y="3268979"/>
            <a:ext cx="320040" cy="0"/>
          </a:xfrm>
          <a:prstGeom prst="line">
            <a:avLst/>
          </a:prstGeom>
          <a:ln w="22225">
            <a:solidFill>
              <a:srgbClr val="566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424159" y="2103120"/>
            <a:ext cx="1371600" cy="233172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19" y="219456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6655F"/>
                </a:solidFill>
                <a:latin typeface="맑은 고딕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19" y="2432303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최종 클립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19" y="2761487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6655F"/>
                </a:solidFill>
                <a:latin typeface="맑은 고딕"/>
              </a:rPr>
              <a:t>.mp4 × 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109959" y="4434840"/>
            <a:ext cx="0" cy="502919"/>
          </a:xfrm>
          <a:prstGeom prst="line">
            <a:avLst/>
          </a:prstGeom>
          <a:ln w="22225">
            <a:solidFill>
              <a:srgbClr val="3D55C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686799" y="4983479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59" y="5074919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D55C7"/>
                </a:solidFill>
                <a:latin typeface="맑은 고딕"/>
              </a:rPr>
              <a:t>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59" y="53126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다운스트림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59" y="5641847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6655F"/>
                </a:solidFill>
                <a:latin typeface="맑은 고딕"/>
              </a:rPr>
              <a:t>YOLO · STT · VLM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59" y="5897879"/>
            <a:ext cx="4572000" cy="-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6655F"/>
                </a:solidFill>
                <a:latin typeface="맑은 고딕"/>
              </a:rPr>
              <a:t>암묵지 후보 추출 및 구조화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F7F"/>
                </a:solidFill>
                <a:latin typeface="맑은 고딕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201E"/>
                </a:solidFill>
                <a:latin typeface="맑은 고딕"/>
              </a:rPr>
              <a:t>모션 스코어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55F"/>
                </a:solidFill>
                <a:latin typeface="맑은 고딕"/>
              </a:rPr>
              <a:t>motion_score.py — 프레임 간 변화량으로 카메라(=시선) 이동량을 정량화한다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201E"/>
                </a:solidFill>
                <a:latin typeface="맑은 고딕"/>
              </a:rPr>
              <a:t>방식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5486400" cy="68580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8F7F"/>
                </a:solidFill>
                <a:latin typeface="맑은 고딕"/>
              </a:rPr>
              <a:t>score(t) = mean( |gray(t) − gray(t−1)|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1초 간격으로 프레임 샘플링 → 인접 프레임 픽셀 절댓값 차이(absdiff) 평균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GaussianBlur(5×5) 사전 적용 — AR 글래스 특유의 고주파 노이즈 억제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노이즈 데드존: score &lt; 1.5 → 0 처리 (미세 진동을 정지로 분류)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201E"/>
                </a:solidFill>
                <a:latin typeface="맑은 고딕"/>
              </a:rPr>
              <a:t>설계 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absdiff는 연산이 단순·고속하며 카메라 이동량과 선형적으로 비례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1초 간격 샘플링(30fps 기준 1/30 프레임만 처리) → 속도 30배 향상, 정밀도는 충분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광학 흐름(Optical Flow) 대비 방향 정보는 없지만, '이동량 파악'이라는 목적엔 충분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F7F"/>
                </a:solidFill>
                <a:latin typeface="맑은 고딕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201E"/>
                </a:solidFill>
                <a:latin typeface="맑은 고딕"/>
              </a:rPr>
              <a:t>샘플링 전략 A / B / C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55F"/>
                </a:solidFill>
                <a:latin typeface="맑은 고딕"/>
              </a:rPr>
              <a:t>세 전략을 동시 실행 후 종합점수로 최적 전략을 자동 선택한다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29184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전략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적합한 경우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A. Threshold + AKS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상위 75% 모션만 추출 → 병합 → 최소간격 필터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너무 엄격 → 클립 0~1개, 사실상 필터링 실패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장시간 영상의 특정 고모션 이벤트 추출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8721C"/>
                          </a:solidFill>
                          <a:latin typeface="맑은 고딕"/>
                        </a:rPr>
                        <a:t>B. CDF / MGSampler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201E"/>
                          </a:solidFill>
                          <a:latin typeface="맑은 고딕"/>
                        </a:rPr>
                        <a:t>모션 CDF 역변환으로 앵커 배치 (모션 밀도 비례)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201E"/>
                          </a:solidFill>
                          <a:latin typeface="맑은 고딕"/>
                        </a:rPr>
                        <a:t>균등성 최고, 4개 실측 영상 전부 선택됨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201E"/>
                          </a:solidFill>
                          <a:latin typeface="맑은 고딕"/>
                        </a:rPr>
                        <a:t>짧은 영상의 흐름을 고르게 요약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C. AKS Window ArgMax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시간 구간 균등분할 + 구간별 최고점 선택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모션관련도 최고(97~98%), 커버리지 보장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각 구간의 가장 동적인 장면 추출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43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201E"/>
                </a:solidFill>
                <a:latin typeface="맑은 고딕"/>
              </a:rPr>
              <a:t>클립 파라미터 자동 계산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09160"/>
            <a:ext cx="11064240" cy="86868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6460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n_clips = max(3, 영상길이(초) ÷ 40)   ·   clip_window = ceil(영상길이 × 0.75 ÷ (n_clips × 2))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9379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6655F"/>
                </a:solidFill>
                <a:latin typeface="맑은 고딕"/>
              </a:rPr>
              <a:t>40초당 클립 1개(최소 3개), 앵커 앞뒤 clip_window초 추출 → 유지율 75% 목표(제거 25%: 무의미 구간 삭제 + 맥락 보존의 균형점)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F7F"/>
                </a:solidFill>
                <a:latin typeface="맑은 고딕"/>
              </a:rPr>
              <a:t>STEP 2 · WEIGHTING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201E"/>
                </a:solidFill>
                <a:latin typeface="맑은 고딕"/>
              </a:rPr>
              <a:t>전략 자동 선택 기준과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55F"/>
                </a:solidFill>
                <a:latin typeface="맑은 고딕"/>
              </a:rPr>
              <a:t>종합점수 = 커버리지×0.40 + 모션관련도×0.35 + 균등성×0.25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678"/>
                <a:gridCol w="1689196"/>
                <a:gridCol w="1097978"/>
                <a:gridCol w="3631773"/>
                <a:gridCol w="3969612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가중치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놓쳤을 때 결과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되돌릴 수 있는가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8721C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커버리지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40%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그 구간의 암묵지 후보가 통째로 사라짐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불가능 — 클립으로 안 뽑히면 다음 단계 입력 자체가 없음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모션관련도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35%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정지·무의미 구간이 클립에 섞여 들어감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부분 가능 — 클립은 살아있어 후속 단계에서 거를 여지 있음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균등성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25%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클립이 특정 구간에 쏠림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01E"/>
                          </a:solidFill>
                          <a:latin typeface="맑은 고딕"/>
                        </a:rPr>
                        <a:t>커버리지가 보완 — 완전히 몰리지만 않으면 치명적이지 않음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69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201E"/>
                </a:solidFill>
                <a:latin typeface="맑은 고딕"/>
              </a:rPr>
              <a:t>되돌릴 수 없는 것(커버리지) → 비용만 드는 것(모션관련도) → 미관상 문제(균등성) 순으로 40 &gt; 35 &gt; 25 가중치를 부여했다.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09160"/>
            <a:ext cx="11064240" cy="160020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6460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8F7F"/>
                </a:solidFill>
                <a:latin typeface="맑은 고딕"/>
              </a:rPr>
              <a:t>참고 — 문헌 검토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93792"/>
            <a:ext cx="106070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4201E"/>
                </a:solidFill>
                <a:latin typeface="맑은 고딕"/>
              </a:rPr>
              <a:t>• MGSampler(ICCV 2021, 전략 B의 원조)·AKS(CVPR 2025, 전략 A/C 원조) 모두 관련도·커버리지 개념은 다루지만 고정 가중치를 명시하지 않음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4201E"/>
                </a:solidFill>
                <a:latin typeface="맑은 고딕"/>
              </a:rPr>
              <a:t>• AKS는 데이터셋마다 다른 threshold로 대체, DR-DSN(AAAI 2018)도 두 reward를 가중치 없이 단순 합산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4201E"/>
                </a:solidFill>
                <a:latin typeface="맑은 고딕"/>
              </a:rPr>
              <a:t>• → 이 분야에 범용 검증 가중치는 없음. 태스크 목적(암묵지 보존)에 맞춘 자체 설계값이 타당함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8F7F"/>
                </a:solidFill>
                <a:latin typeface="맑은 고딕"/>
              </a:rPr>
              <a:t>STEP 2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4201E"/>
                </a:solidFill>
                <a:latin typeface="맑은 고딕"/>
              </a:rPr>
              <a:t>샘플러 비교 · 가중치 근거 · 실측 스코어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6655F"/>
                </a:solidFill>
                <a:latin typeface="맑은 고딕"/>
              </a:rPr>
              <a:t>종합점수 = 커버리지×0.40 + 모션관련도×0.35 + 균등성×0.25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0000"/>
            <a:ext cx="3568080" cy="800000"/>
          </a:xfrm>
          <a:prstGeom prst="rect">
            <a:avLst/>
          </a:prstGeom>
          <a:solidFill>
            <a:srgbClr val="FBEAEA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640" y="1540000"/>
            <a:ext cx="330808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8F7F"/>
                </a:solidFill>
                <a:latin typeface="맑은 고딕"/>
              </a:rPr>
              <a:t>A. Threshold + 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640" y="1800000"/>
            <a:ext cx="330808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4201E"/>
                </a:solidFill>
                <a:latin typeface="맑은 고딕"/>
              </a:rPr>
              <a:t>상위 75% 임계값 → 병합 → 최소간격 필터</a:t>
            </a:r>
          </a:p>
          <a:p>
            <a:pPr algn="l"/>
            <a:r>
              <a:rPr sz="1000" b="0">
                <a:solidFill>
                  <a:srgbClr val="14201E"/>
                </a:solidFill>
                <a:latin typeface="맑은 고딕"/>
              </a:rPr>
              <a:t>실측 4개 영상 모두 앵커 1개로 병합 (구조적 실패)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6720" y="1460000"/>
            <a:ext cx="3568080" cy="800000"/>
          </a:xfrm>
          <a:prstGeom prst="rect">
            <a:avLst/>
          </a:prstGeom>
          <a:solidFill>
            <a:srgbClr val="FBF3E8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720" y="1540000"/>
            <a:ext cx="330808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8F7F"/>
                </a:solidFill>
                <a:latin typeface="맑은 고딕"/>
              </a:rPr>
              <a:t>B. CDF / MGSampler  ★ 채택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720" y="1800000"/>
            <a:ext cx="330808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4201E"/>
                </a:solidFill>
                <a:latin typeface="맑은 고딕"/>
              </a:rPr>
              <a:t>모션 CDF 역변환으로 앵커를 밀도 비례 배치</a:t>
            </a:r>
          </a:p>
          <a:p>
            <a:pPr algn="l"/>
            <a:r>
              <a:rPr sz="1000" b="0">
                <a:solidFill>
                  <a:srgbClr val="14201E"/>
                </a:solidFill>
                <a:latin typeface="맑은 고딕"/>
              </a:rPr>
              <a:t>균등성 최고 — 실측 4개 영상 전부 선택됨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4800" y="1460000"/>
            <a:ext cx="3568080" cy="80000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800" y="1540000"/>
            <a:ext cx="330808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8F7F"/>
                </a:solidFill>
                <a:latin typeface="맑은 고딕"/>
              </a:rPr>
              <a:t>C. AKS Window ArgMax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800" y="1800000"/>
            <a:ext cx="330808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4201E"/>
                </a:solidFill>
                <a:latin typeface="맑은 고딕"/>
              </a:rPr>
              <a:t>구간 균등분할 + 구간별 최고점 선택</a:t>
            </a:r>
          </a:p>
          <a:p>
            <a:pPr algn="l"/>
            <a:r>
              <a:rPr sz="1000" b="0">
                <a:solidFill>
                  <a:srgbClr val="14201E"/>
                </a:solidFill>
                <a:latin typeface="맑은 고딕"/>
              </a:rPr>
              <a:t>모션관련도 최고(90~98%)이나 균등성 손해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00000"/>
            <a:ext cx="1106424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6655F"/>
                </a:solidFill>
                <a:latin typeface="맑은 고딕"/>
              </a:rPr>
              <a:t>가중치 비율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80000"/>
            <a:ext cx="4425696" cy="260000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80000"/>
            <a:ext cx="4425696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커버리지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2480000"/>
            <a:ext cx="3872483" cy="260000"/>
          </a:xfrm>
          <a:prstGeom prst="rect">
            <a:avLst/>
          </a:prstGeom>
          <a:solidFill>
            <a:srgbClr val="4D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2480000"/>
            <a:ext cx="3872483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모션관련도 35%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46819" y="2480000"/>
            <a:ext cx="2766060" cy="260000"/>
          </a:xfrm>
          <a:prstGeom prst="rect">
            <a:avLst/>
          </a:prstGeom>
          <a:solidFill>
            <a:srgbClr val="A9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6819" y="2480000"/>
            <a:ext cx="276606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201E"/>
                </a:solidFill>
                <a:latin typeface="맑은 고딕"/>
              </a:rPr>
              <a:t>균등성 25%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2820000"/>
          <a:ext cx="11064240" cy="3354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00000"/>
                <a:gridCol w="1800000"/>
                <a:gridCol w="2000000"/>
                <a:gridCol w="2088240"/>
                <a:gridCol w="1776000"/>
                <a:gridCol w="1800000"/>
              </a:tblGrid>
              <a:tr h="258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영상</a:t>
                      </a:r>
                    </a:p>
                  </a:txBody>
                  <a:tcPr marL="90000" marR="90000" marT="9000" marB="9000" anchor="ctr">
                    <a:solidFill>
                      <a:srgbClr val="1420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전략</a:t>
                      </a:r>
                    </a:p>
                  </a:txBody>
                  <a:tcPr marL="90000" marR="90000" marT="9000" marB="9000" anchor="ctr">
                    <a:solidFill>
                      <a:srgbClr val="1420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커버리지</a:t>
                      </a:r>
                    </a:p>
                  </a:txBody>
                  <a:tcPr marL="90000" marR="90000" marT="9000" marB="9000" anchor="ctr">
                    <a:solidFill>
                      <a:srgbClr val="1420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모션관련도</a:t>
                      </a:r>
                    </a:p>
                  </a:txBody>
                  <a:tcPr marL="90000" marR="90000" marT="9000" marB="9000" anchor="ctr">
                    <a:solidFill>
                      <a:srgbClr val="1420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균등성</a:t>
                      </a:r>
                    </a:p>
                  </a:txBody>
                  <a:tcPr marL="90000" marR="90000" marT="9000" marB="9000" anchor="ctr">
                    <a:solidFill>
                      <a:srgbClr val="1420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종합점수</a:t>
                      </a:r>
                    </a:p>
                  </a:txBody>
                  <a:tcPr marL="90000" marR="90000" marT="9000" marB="9000" anchor="ctr">
                    <a:solidFill>
                      <a:srgbClr val="14201E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CLIP1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B3B3B"/>
                          </a:solidFill>
                          <a:latin typeface="맑은 고딕"/>
                        </a:rPr>
                        <a:t>A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1.0000*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11.1%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0.0000*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B3B3B"/>
                          </a:solidFill>
                          <a:latin typeface="맑은 고딕"/>
                        </a:rPr>
                        <a:t>0.4389*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8721C"/>
                          </a:solidFill>
                          <a:latin typeface="맑은 고딕"/>
                        </a:rPr>
                        <a:t>B ★채택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0.7513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64.5%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0.9830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8721C"/>
                          </a:solidFill>
                          <a:latin typeface="맑은 고딕"/>
                        </a:rPr>
                        <a:t>0.7721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C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0.6599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98.1%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0.6273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0.7642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CLIP2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B3B3B"/>
                          </a:solidFill>
                          <a:latin typeface="맑은 고딕"/>
                        </a:rPr>
                        <a:t>A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0.9999*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27.4%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0.0000*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B3B3B"/>
                          </a:solidFill>
                          <a:latin typeface="맑은 고딕"/>
                        </a:rPr>
                        <a:t>0.4960*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8721C"/>
                          </a:solidFill>
                          <a:latin typeface="맑은 고딕"/>
                        </a:rPr>
                        <a:t>B ★채택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0.6783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63.4%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0.9238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8721C"/>
                          </a:solidFill>
                          <a:latin typeface="맑은 고딕"/>
                        </a:rPr>
                        <a:t>0.7242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C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0.4469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97.9%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0.3901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0.6191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CLIP3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B3B3B"/>
                          </a:solidFill>
                          <a:latin typeface="맑은 고딕"/>
                        </a:rPr>
                        <a:t>A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1.0000*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34.6%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0.0000*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B3B3B"/>
                          </a:solidFill>
                          <a:latin typeface="맑은 고딕"/>
                        </a:rPr>
                        <a:t>0.5209*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8721C"/>
                          </a:solidFill>
                          <a:latin typeface="맑은 고딕"/>
                        </a:rPr>
                        <a:t>B ★채택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0.6054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60.6%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0.8684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8721C"/>
                          </a:solidFill>
                          <a:latin typeface="맑은 고딕"/>
                        </a:rPr>
                        <a:t>0.6714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C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0.4127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90.3%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0.2466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0.5428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CLIP4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B3B3B"/>
                          </a:solidFill>
                          <a:latin typeface="맑은 고딕"/>
                        </a:rPr>
                        <a:t>A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0.8246*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90.0%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0.0000*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B3B3B"/>
                          </a:solidFill>
                          <a:latin typeface="맑은 고딕"/>
                        </a:rPr>
                        <a:t>0.6447*</a:t>
                      </a:r>
                    </a:p>
                  </a:txBody>
                  <a:tcPr marL="90000" marR="90000" marT="9000" marB="9000" anchor="ctr">
                    <a:solidFill>
                      <a:srgbClr val="FBEAEA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8721C"/>
                          </a:solidFill>
                          <a:latin typeface="맑은 고딕"/>
                        </a:rPr>
                        <a:t>B ★채택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0.7632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88.3%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01E"/>
                          </a:solidFill>
                          <a:latin typeface="맑은 고딕"/>
                        </a:rPr>
                        <a:t>0.6832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8721C"/>
                          </a:solidFill>
                          <a:latin typeface="맑은 고딕"/>
                        </a:rPr>
                        <a:t>0.7851</a:t>
                      </a:r>
                    </a:p>
                  </a:txBody>
                  <a:tcPr marL="90000" marR="90000" marT="9000" marB="9000" anchor="ctr">
                    <a:solidFill>
                      <a:srgbClr val="FBF3E8"/>
                    </a:solidFill>
                  </a:tcPr>
                </a:tc>
              </a:tr>
              <a:tr h="258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C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0.7544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90.1%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0.5963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01E"/>
                          </a:solidFill>
                          <a:latin typeface="맑은 고딕"/>
                        </a:rPr>
                        <a:t>0.7663</a:t>
                      </a:r>
                    </a:p>
                  </a:txBody>
                  <a:tcPr marL="90000" marR="90000" marT="9000" marB="9000" anchor="ctr"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6209000"/>
            <a:ext cx="1106424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55F"/>
                </a:solidFill>
                <a:latin typeface="맑은 고딕"/>
              </a:rPr>
              <a:t>* A전략: 상위 모션 구간이 앵커 1개로 병합되어(구조적 필터링 실패) 다지점 간격 지표(커버리지·균등성)가 정의되지 않음</a:t>
            </a:r>
          </a:p>
          <a:p>
            <a:pPr algn="l"/>
            <a:r>
              <a:rPr sz="750" b="0">
                <a:solidFill>
                  <a:srgbClr val="56655F"/>
                </a:solidFill>
                <a:latin typeface="맑은 고딕"/>
              </a:rPr>
              <a:t>  커버리지는 선택 구간 길이/전체 길이 비율로 대체 산출, 균등성은 단일 블록이므로 0 처리하여 종합점수 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6655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F7F"/>
                </a:solidFill>
                <a:latin typeface="맑은 고딕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201E"/>
                </a:solidFill>
                <a:latin typeface="맑은 고딕"/>
              </a:rPr>
              <a:t>클립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55F"/>
                </a:solidFill>
                <a:latin typeface="맑은 고딕"/>
              </a:rPr>
              <a:t>extract_video.py — ffmpeg stream copy로 원본 화질을 그대로 유지한 채 분리한다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68580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8F7F"/>
                </a:solidFill>
                <a:latin typeface="맑은 고딕"/>
              </a:rPr>
              <a:t>ffmpeg -c:v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재인코딩 없음 — 원본 화질 그대로 유지, 손실 없음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속도 — 디코딩·인코딩 없이 컨테이너만 분리 → 거의 즉시 완료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용량 — 원본 비트레이트 그대로 → 파일 크기 예측 가능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-ss(seek)를 입력 전에 배치하여 키프레임 기준 고속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F7F"/>
                </a:solidFill>
                <a:latin typeface="맑은 고딕"/>
              </a:rPr>
              <a:t>METHOD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201E"/>
                </a:solidFill>
                <a:latin typeface="맑은 고딕"/>
              </a:rPr>
              <a:t>샘플링 방법론의 진화 —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55F"/>
                </a:solidFill>
                <a:latin typeface="맑은 고딕"/>
              </a:rPr>
              <a:t>“얼마나 움직였나” → “어떻게 움직였나” → 암묵지 보존 + 작업구간 대표추출 혼합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63239"/>
                <a:gridCol w="324612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1단계 · AKS Window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2단계 · motion_classifier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3단계 · ATKS(개발 중)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판단 기준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얼마나 움직였나 (모션 크기)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어떻게 움직였나 (Optical Flow 유형)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유형분류 + 균등샘플링 결합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구간 균등분할 + 구간별 최고점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GAZE_SHIFT→FIXATION 패턴 = 암묵지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암묵지 전량보존 + HAND_WORK만 대표추출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클립 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12개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196개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목표 20~30개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8721C"/>
                          </a:solidFill>
                          <a:latin typeface="맑은 고딕"/>
                        </a:rPr>
                        <a:t>암묵지 보존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01E"/>
                          </a:solidFill>
                          <a:latin typeface="맑은 고딕"/>
                        </a:rPr>
                        <a:t>우연적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01E"/>
                          </a:solidFill>
                          <a:latin typeface="맑은 고딕"/>
                        </a:rPr>
                        <a:t>구조적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01E"/>
                          </a:solidFill>
                          <a:latin typeface="맑은 고딕"/>
                        </a:rPr>
                        <a:t>구조적 + 보장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한계/특징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이동량만 기준 → 시선탐색 놓칠 수 있음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구조적이지만 파편화되어 과다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201E"/>
                          </a:solidFill>
                          <a:latin typeface="맑은 고딕"/>
                        </a:rPr>
                        <a:t>노이즈·이동 제거, 작업구간 분당 1개 대표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F7F"/>
                </a:solidFill>
                <a:latin typeface="맑은 고딕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201E"/>
                </a:solidFill>
                <a:latin typeface="맑은 고딕"/>
              </a:rPr>
              <a:t>실행 결과 요약 (2026-07-01)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55F"/>
                </a:solidFill>
                <a:latin typeface="맑은 고딕"/>
              </a:rPr>
              <a:t>CLIP1~4, 출력 폴더: 최종본_260701_01/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471"/>
                <a:gridCol w="1687765"/>
                <a:gridCol w="1312706"/>
                <a:gridCol w="2062824"/>
                <a:gridCol w="1406471"/>
                <a:gridCol w="1594000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영상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원본 길이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클립 수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유지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제거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선택 전략</a:t>
                      </a:r>
                    </a:p>
                  </a:txBody>
                  <a:tcPr marL="76200" marR="76200" marT="50800" marB="50800" anchor="ctr">
                    <a:solidFill>
                      <a:srgbClr val="14201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CLIP1_정상조립과정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198초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4개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156초 (79%)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42초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B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CLIP2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113초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3개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91초 (81%)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22초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B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CLIP3_재부팅시도 전까지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111초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3개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83초 (75%)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28초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B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CLIP4_재부팅및BIOS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229초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5개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184초 (80%)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45초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201E"/>
                          </a:solidFill>
                          <a:latin typeface="맑은 고딕"/>
                        </a:rPr>
                        <a:t>B</a:t>
                      </a:r>
                    </a:p>
                  </a:txBody>
                  <a:tcPr marL="76200" marR="76200" marT="38100" marB="38100" anchor="ctr">
                    <a:solidFill>
                      <a:srgbClr val="F4F6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8721C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201E"/>
                          </a:solidFill>
                          <a:latin typeface="맑은 고딕"/>
                        </a:rPr>
                        <a:t>651초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201E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201E"/>
                          </a:solidFill>
                          <a:latin typeface="맑은 고딕"/>
                        </a:rPr>
                        <a:t>514초 (79%)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201E"/>
                          </a:solidFill>
                          <a:latin typeface="맑은 고딕"/>
                        </a:rPr>
                        <a:t>137초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201E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6200" marR="76200" marT="38100" marB="38100" anchor="ctr">
                    <a:solidFill>
                      <a:srgbClr val="FBF3E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4개 영상 모두 전략 B(MGSampler) 선택 — 균등성 지표(0.92~0.98)가 가중합에서 우위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유효 모션 비율 98~99% — 전 영상에서 정지 구간이 거의 없이 촬영 내내 카메라가 움직임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4201E"/>
                </a:solidFill>
                <a:latin typeface="맑은 고딕"/>
              </a:rPr>
              <a:t>• CLIP4 모션 평균 13.1 — 다른 영상(32~43) 대비 낮음, BIOS 화면 등 변화 적은 구간 다수 포함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8F7F"/>
                </a:solidFill>
                <a:latin typeface="맑은 고딕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4201E"/>
                </a:solidFill>
                <a:latin typeface="맑은 고딕"/>
              </a:rPr>
              <a:t>다음 단계 및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103120" cy="82296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6655F"/>
                </a:solidFill>
                <a:latin typeface="맑은 고딕"/>
              </a:rPr>
              <a:t>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94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201E"/>
                </a:solidFill>
                <a:latin typeface="맑은 고딕"/>
              </a:rPr>
              <a:t>모션 가이드 샘플링 → 클립 추출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920240"/>
            <a:ext cx="2103120" cy="82296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011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6655F"/>
                </a:solidFill>
                <a:latin typeface="맑은 고딕"/>
              </a:rPr>
              <a:t>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494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201E"/>
                </a:solidFill>
                <a:latin typeface="맑은 고딕"/>
              </a:rPr>
              <a:t>YOLO — 손/부품 객체 감지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920240"/>
            <a:ext cx="1965960" cy="82296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01168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6655F"/>
                </a:solidFill>
                <a:latin typeface="맑은 고딕"/>
              </a:rPr>
              <a:t>다음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24942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201E"/>
                </a:solidFill>
                <a:latin typeface="맑은 고딕"/>
              </a:rPr>
              <a:t>STT — 음성 텍스트 변환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920240"/>
            <a:ext cx="2103120" cy="822960"/>
          </a:xfrm>
          <a:prstGeom prst="rect">
            <a:avLst/>
          </a:prstGeom>
          <a:solidFill>
            <a:srgbClr val="F4F6F5"/>
          </a:solidFill>
          <a:ln w="12700">
            <a:solidFill>
              <a:srgbClr val="D6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011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6655F"/>
                </a:solidFill>
                <a:latin typeface="맑은 고딕"/>
              </a:rPr>
              <a:t>다음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2494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201E"/>
                </a:solidFill>
                <a:latin typeface="맑은 고딕"/>
              </a:rPr>
              <a:t>VLM — 영상+텍스트 통합 분석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1920240"/>
            <a:ext cx="2331720" cy="822960"/>
          </a:xfrm>
          <a:prstGeom prst="rect">
            <a:avLst/>
          </a:prstGeom>
          <a:solidFill>
            <a:srgbClr val="FBF3E8"/>
          </a:solidFill>
          <a:ln w="12700">
            <a:solidFill>
              <a:srgbClr val="3D5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01168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6655F"/>
                </a:solidFill>
                <a:latin typeface="맑은 고딕"/>
              </a:rPr>
              <a:t>최종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4942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201E"/>
                </a:solidFill>
                <a:latin typeface="맑은 고딕"/>
              </a:rPr>
              <a:t>암묵지 후보 추출 및 구조화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51760" y="2331720"/>
            <a:ext cx="137160" cy="0"/>
          </a:xfrm>
          <a:prstGeom prst="line">
            <a:avLst/>
          </a:prstGeom>
          <a:ln w="12700">
            <a:solidFill>
              <a:srgbClr val="D6D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92040" y="2331720"/>
            <a:ext cx="137160" cy="0"/>
          </a:xfrm>
          <a:prstGeom prst="line">
            <a:avLst/>
          </a:prstGeom>
          <a:ln w="12700">
            <a:solidFill>
              <a:srgbClr val="D6D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95160" y="2331720"/>
            <a:ext cx="137160" cy="0"/>
          </a:xfrm>
          <a:prstGeom prst="line">
            <a:avLst/>
          </a:prstGeom>
          <a:ln w="12700">
            <a:solidFill>
              <a:srgbClr val="D6D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2331720"/>
            <a:ext cx="137160" cy="0"/>
          </a:xfrm>
          <a:prstGeom prst="line">
            <a:avLst/>
          </a:prstGeom>
          <a:ln w="12700">
            <a:solidFill>
              <a:srgbClr val="D6D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31089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201E"/>
                </a:solidFill>
                <a:latin typeface="맑은 고딕"/>
              </a:rPr>
              <a:t>한계 및 개선 방향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3520440"/>
          <a:ext cx="1106424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00000"/>
                <a:gridCol w="6864240"/>
              </a:tblGrid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 marL="140000" marR="140000" marT="20000" marB="20000" anchor="ctr">
                    <a:solidFill>
                      <a:srgbClr val="1420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개선 방향</a:t>
                      </a:r>
                    </a:p>
                  </a:txBody>
                  <a:tcPr marL="140000" marR="140000" marT="20000" marB="20000" anchor="ctr">
                    <a:solidFill>
                      <a:srgbClr val="14201E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가중치(0.40/0.35/0.25)가 임의값</a:t>
                      </a:r>
                    </a:p>
                  </a:txBody>
                  <a:tcPr marL="140000" marR="140000" marT="20000" marB="20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6655F"/>
                          </a:solidFill>
                          <a:latin typeface="맑은 고딕"/>
                        </a:rPr>
                        <a:t>도메인 전문가 평가로 가중치 최적화</a:t>
                      </a:r>
                    </a:p>
                  </a:txBody>
                  <a:tcPr marL="140000" marR="140000" marT="20000" marB="20000" anchor="ctr">
                    <a:solidFill>
                      <a:srgbClr val="FBF3E8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absdiff는 이동 방향 무시</a:t>
                      </a:r>
                    </a:p>
                  </a:txBody>
                  <a:tcPr marL="140000" marR="140000" marT="20000" marB="20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6655F"/>
                          </a:solidFill>
                          <a:latin typeface="맑은 고딕"/>
                        </a:rPr>
                        <a:t>Optical Flow 도입 시 의도적 시선이동 vs 노이즈 구분 가능</a:t>
                      </a:r>
                    </a:p>
                  </a:txBody>
                  <a:tcPr marL="140000" marR="140000" marT="20000" marB="20000" anchor="ctr">
                    <a:solidFill>
                      <a:srgbClr val="F4F6F5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clip_window가 고정 비율</a:t>
                      </a:r>
                    </a:p>
                  </a:txBody>
                  <a:tcPr marL="140000" marR="140000" marT="20000" marB="20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6655F"/>
                          </a:solidFill>
                          <a:latin typeface="맑은 고딕"/>
                        </a:rPr>
                        <a:t>모션 분포에 따라 동적 조정</a:t>
                      </a:r>
                    </a:p>
                  </a:txBody>
                  <a:tcPr marL="140000" marR="140000" marT="20000" marB="20000" anchor="ctr">
                    <a:solidFill>
                      <a:srgbClr val="FBF3E8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전략 A가 짧은 영상에서 실패</a:t>
                      </a:r>
                    </a:p>
                  </a:txBody>
                  <a:tcPr marL="140000" marR="140000" marT="20000" marB="20000" anchor="ctr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6655F"/>
                          </a:solidFill>
                          <a:latin typeface="맑은 고딕"/>
                        </a:rPr>
                        <a:t>coverage_min_gap 알고리즘 개선 필요</a:t>
                      </a:r>
                    </a:p>
                  </a:txBody>
                  <a:tcPr marL="140000" marR="140000" marT="20000" marB="20000" anchor="ctr">
                    <a:solidFill>
                      <a:srgbClr val="F4F6F5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01E"/>
                          </a:solidFill>
                          <a:latin typeface="맑은 고딕"/>
                        </a:rPr>
                        <a:t>다음 단계 연동 없음</a:t>
                      </a:r>
                    </a:p>
                  </a:txBody>
                  <a:tcPr marL="140000" marR="140000" marT="20000" marB="20000" anchor="ctr">
                    <a:solidFill>
                      <a:srgbClr val="FB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6655F"/>
                          </a:solidFill>
                          <a:latin typeface="맑은 고딕"/>
                        </a:rPr>
                        <a:t>YOLO/STT 결과 피드백으로 샘플링 기준 재조정 가능</a:t>
                      </a:r>
                    </a:p>
                  </a:txBody>
                  <a:tcPr marL="140000" marR="140000" marT="20000" marB="20000" anchor="ctr">
                    <a:solidFill>
                      <a:srgbClr val="FBF3E8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6655F"/>
                </a:solidFill>
                <a:latin typeface="맑은 고딕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6655F"/>
                </a:solidFill>
                <a:latin typeface="맑은 고딕"/>
              </a:rPr>
              <a:t>모션 가이드 샘플링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